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66" r:id="rId4"/>
    <p:sldId id="267" r:id="rId5"/>
    <p:sldId id="259" r:id="rId6"/>
    <p:sldId id="260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22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7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0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37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47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2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6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4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8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3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2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3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1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352794" y="3388321"/>
            <a:ext cx="32004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23606" y="1637601"/>
            <a:ext cx="6858003" cy="35827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0935" y="857786"/>
            <a:ext cx="8300268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638" y="2441041"/>
            <a:ext cx="7432722" cy="1364746"/>
          </a:xfrm>
        </p:spPr>
        <p:txBody>
          <a:bodyPr anchor="t">
            <a:normAutofit fontScale="90000"/>
          </a:bodyPr>
          <a:lstStyle/>
          <a:p>
            <a:r>
              <a:rPr lang="en-GB" sz="4800" dirty="0" err="1">
                <a:latin typeface="Bahnschrift" panose="020B0502040204020203" pitchFamily="34" charset="0"/>
              </a:rPr>
              <a:t>AquaSOS</a:t>
            </a:r>
            <a:r>
              <a:rPr lang="en-GB" sz="4800" dirty="0">
                <a:latin typeface="Bahnschrift" panose="020B0502040204020203" pitchFamily="34" charset="0"/>
              </a:rPr>
              <a:t> – </a:t>
            </a:r>
            <a:r>
              <a:rPr lang="en-GB" sz="4800" dirty="0" err="1">
                <a:latin typeface="Bahnschrift" panose="020B0502040204020203" pitchFamily="34" charset="0"/>
              </a:rPr>
              <a:t>Inteligentna</a:t>
            </a:r>
            <a:r>
              <a:rPr lang="en-GB" sz="4800" dirty="0">
                <a:latin typeface="Bahnschrift" panose="020B0502040204020203" pitchFamily="34" charset="0"/>
              </a:rPr>
              <a:t> Bojka </a:t>
            </a:r>
            <a:r>
              <a:rPr lang="en-GB" sz="4800" dirty="0" err="1">
                <a:latin typeface="Bahnschrift" panose="020B0502040204020203" pitchFamily="34" charset="0"/>
              </a:rPr>
              <a:t>Ratunkowa</a:t>
            </a:r>
            <a:endParaRPr lang="en-GB" sz="4800" dirty="0">
              <a:latin typeface="Bahnschrift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639" y="4033610"/>
            <a:ext cx="7432721" cy="418622"/>
          </a:xfrm>
        </p:spPr>
        <p:txBody>
          <a:bodyPr anchor="b">
            <a:normAutofit lnSpcReduction="10000"/>
          </a:bodyPr>
          <a:lstStyle/>
          <a:p>
            <a:pPr algn="l"/>
            <a:r>
              <a:rPr lang="en-GB" dirty="0" err="1"/>
              <a:t>Koncepcja</a:t>
            </a:r>
            <a:r>
              <a:rPr lang="en-GB" dirty="0"/>
              <a:t> </a:t>
            </a:r>
            <a:r>
              <a:rPr lang="en-GB" dirty="0" err="1"/>
              <a:t>bojki</a:t>
            </a:r>
            <a:r>
              <a:rPr lang="en-GB" dirty="0"/>
              <a:t> </a:t>
            </a:r>
            <a:r>
              <a:rPr lang="en-GB" dirty="0" err="1"/>
              <a:t>zrzucanej</a:t>
            </a:r>
            <a:r>
              <a:rPr lang="en-GB" dirty="0"/>
              <a:t> z </a:t>
            </a:r>
            <a:r>
              <a:rPr lang="en-GB" dirty="0" err="1"/>
              <a:t>drona</a:t>
            </a:r>
            <a:r>
              <a:rPr lang="en-GB" dirty="0"/>
              <a:t> </a:t>
            </a:r>
            <a:r>
              <a:rPr lang="en-GB" dirty="0" err="1"/>
              <a:t>wraz</a:t>
            </a:r>
            <a:r>
              <a:rPr lang="en-GB" dirty="0"/>
              <a:t> z </a:t>
            </a:r>
            <a:r>
              <a:rPr lang="en-GB" dirty="0" err="1"/>
              <a:t>beaconem</a:t>
            </a:r>
            <a:r>
              <a:rPr lang="en-GB" dirty="0"/>
              <a:t> SAR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43057" y="3385173"/>
            <a:ext cx="32004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608573"/>
            <a:ext cx="6927525" cy="781699"/>
          </a:xfrm>
        </p:spPr>
        <p:txBody>
          <a:bodyPr anchor="b">
            <a:normAutofit/>
          </a:bodyPr>
          <a:lstStyle/>
          <a:p>
            <a:r>
              <a:rPr lang="en-GB" sz="4300" dirty="0" err="1">
                <a:latin typeface="Bahnschrift" panose="020B0502040204020203" pitchFamily="34" charset="0"/>
              </a:rPr>
              <a:t>Założenia</a:t>
            </a:r>
            <a:endParaRPr lang="en-GB" sz="4300" dirty="0">
              <a:latin typeface="Bahnschrift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471057"/>
            <a:ext cx="7607751" cy="367392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pl-PL" sz="1800" dirty="0"/>
              <a:t>Każdego roku setki osób giną w wyniku utonięć z powodu braku natychmiastowej asekuracji oraz trudności w szybkim zlokalizowaniu poszkodowanego. </a:t>
            </a:r>
            <a:endParaRPr lang="en-GB" sz="1800" dirty="0"/>
          </a:p>
          <a:p>
            <a:pPr marL="0" indent="0">
              <a:buNone/>
            </a:pPr>
            <a:r>
              <a:rPr lang="pl-PL" sz="1800" dirty="0"/>
              <a:t>AquaSOS to kompaktowa, inteligentna bojka, która po kontakcie z wodą automatycznie napełnia się gazem, aktywuje oświetlenie ostrzegawcze oraz wysyła swoją dokładną pozycję GPS. Urządzenie może współpracować z systemami lokalizacyjnymi stosowanymi w ratownictwie morskim, takimi jak beacony SAR lub infrastruktura AIS/LoRa, umożliwiając natychmiastowe przekazanie informacji do służb ratunkowych. Dzięki niewielkim rozmiarom i masie AquaSOS może być zrzucana z dronów powietrznych lub wodnych, co pozwala dostarczyć wyporność i oznaczenie miejsca wypadku nawet wtedy, gdy ratownik znajduje się daleko od topielca. </a:t>
            </a:r>
            <a:endParaRPr lang="en-GB" sz="1800" dirty="0"/>
          </a:p>
          <a:p>
            <a:pPr marL="0" indent="0">
              <a:buNone/>
            </a:pPr>
            <a:r>
              <a:rPr lang="pl-PL" sz="1800" dirty="0"/>
              <a:t>Bojkę można stosować także komercyjnie na statkach i jachtach jako element nowoczesnego, zautomatyzowanego wyposażenia ratunkowego.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D355EE-E003-2F85-825E-22EA0E2C8859}"/>
              </a:ext>
            </a:extLst>
          </p:cNvPr>
          <p:cNvSpPr txBox="1"/>
          <p:nvPr/>
        </p:nvSpPr>
        <p:spPr>
          <a:xfrm>
            <a:off x="1793421" y="334110"/>
            <a:ext cx="5557158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300" dirty="0">
                <a:latin typeface="Bahnschrift" panose="020B0502040204020203" pitchFamily="34" charset="0"/>
              </a:rPr>
              <a:t>Cel </a:t>
            </a:r>
            <a:r>
              <a:rPr lang="en-GB" sz="4300" dirty="0" err="1">
                <a:latin typeface="Bahnschrift" panose="020B0502040204020203" pitchFamily="34" charset="0"/>
              </a:rPr>
              <a:t>projektu</a:t>
            </a:r>
            <a:r>
              <a:rPr lang="en-GB" sz="4300" dirty="0">
                <a:latin typeface="Bahnschrift" panose="020B0502040204020203" pitchFamily="34" charset="0"/>
              </a:rPr>
              <a:t> </a:t>
            </a:r>
            <a:r>
              <a:rPr lang="en-GB" sz="4300" dirty="0" err="1">
                <a:latin typeface="Bahnschrift" panose="020B0502040204020203" pitchFamily="34" charset="0"/>
              </a:rPr>
              <a:t>AquaSOS</a:t>
            </a:r>
            <a:endParaRPr lang="en-GB" sz="43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EDA29-580A-01DE-C6F5-920356AFB040}"/>
              </a:ext>
            </a:extLst>
          </p:cNvPr>
          <p:cNvSpPr/>
          <p:nvPr/>
        </p:nvSpPr>
        <p:spPr>
          <a:xfrm>
            <a:off x="236320" y="0"/>
            <a:ext cx="33725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6B9A0-70EE-6FCC-3A20-2051FE730948}"/>
              </a:ext>
            </a:extLst>
          </p:cNvPr>
          <p:cNvSpPr txBox="1"/>
          <p:nvPr/>
        </p:nvSpPr>
        <p:spPr>
          <a:xfrm>
            <a:off x="832757" y="1296605"/>
            <a:ext cx="79030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l-PL" dirty="0"/>
              <a:t>Projekt zakłada stworzenie kompaktowej bojki o pojemności ok. 15 L i wyporności co najmniej 100 N, która po kontakcie z wodą automatycznie napełnia się CO₂. Po aktywacji uruchamia sygnalizację świetlną oraz moduł GPS wysyłający pozycję do służb ratunkowych lub wskazanego kontaktu. Bojka może współpracować z beaconem SAR, umożliwiając natychmiastowe przekazanie lokalizacji do systemów poszukiwawczo-ratowniczych. Całość jest wodoodporna i zasilana akumulatorem Li-ion, zapewniającym pracę podczas akcji ratunkowej.</a:t>
            </a:r>
          </a:p>
        </p:txBody>
      </p:sp>
      <p:pic>
        <p:nvPicPr>
          <p:cNvPr id="10" name="Picture 9" descr="A black and white drawing of a circular object&#10;&#10;AI-generated content may be incorrect.">
            <a:extLst>
              <a:ext uri="{FF2B5EF4-FFF2-40B4-BE49-F238E27FC236}">
                <a16:creationId xmlns:a16="http://schemas.microsoft.com/office/drawing/2014/main" id="{9F61166D-5C3C-D825-C155-3475DC888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072" y="3382359"/>
            <a:ext cx="4495799" cy="2997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16908E-BA1C-57C3-ECC1-D8CE6582F7E2}"/>
              </a:ext>
            </a:extLst>
          </p:cNvPr>
          <p:cNvSpPr txBox="1"/>
          <p:nvPr/>
        </p:nvSpPr>
        <p:spPr>
          <a:xfrm>
            <a:off x="5718365" y="3942973"/>
            <a:ext cx="2950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 err="1"/>
              <a:t>Rysunek</a:t>
            </a:r>
            <a:r>
              <a:rPr lang="en-GB" dirty="0"/>
              <a:t> </a:t>
            </a:r>
            <a:r>
              <a:rPr lang="en-GB" dirty="0" err="1"/>
              <a:t>poglądowy</a:t>
            </a:r>
            <a:r>
              <a:rPr lang="en-GB" dirty="0"/>
              <a:t> </a:t>
            </a:r>
            <a:r>
              <a:rPr lang="en-GB" dirty="0" err="1"/>
              <a:t>bojki</a:t>
            </a:r>
            <a:r>
              <a:rPr lang="en-GB" dirty="0"/>
              <a:t> </a:t>
            </a:r>
            <a:r>
              <a:rPr lang="en-GB" dirty="0" err="1"/>
              <a:t>AquaSos</a:t>
            </a:r>
            <a:r>
              <a:rPr lang="en-GB" dirty="0"/>
              <a:t>. </a:t>
            </a:r>
            <a:r>
              <a:rPr lang="en-GB" dirty="0" err="1"/>
              <a:t>Całość</a:t>
            </a:r>
            <a:r>
              <a:rPr lang="en-GB" dirty="0"/>
              <a:t> </a:t>
            </a:r>
            <a:r>
              <a:rPr lang="en-GB" dirty="0" err="1"/>
              <a:t>bojki</a:t>
            </a:r>
            <a:r>
              <a:rPr lang="en-GB" dirty="0"/>
              <a:t> ma </a:t>
            </a:r>
            <a:r>
              <a:rPr lang="en-GB" dirty="0" err="1"/>
              <a:t>się</a:t>
            </a:r>
            <a:r>
              <a:rPr lang="en-GB" dirty="0"/>
              <a:t> </a:t>
            </a:r>
            <a:r>
              <a:rPr lang="en-GB" dirty="0" err="1"/>
              <a:t>mieścić</a:t>
            </a:r>
            <a:r>
              <a:rPr lang="en-GB" dirty="0"/>
              <a:t> w </a:t>
            </a:r>
            <a:r>
              <a:rPr lang="en-GB" dirty="0" err="1"/>
              <a:t>wodoodpornej</a:t>
            </a:r>
            <a:r>
              <a:rPr lang="en-GB" dirty="0"/>
              <a:t> </a:t>
            </a:r>
            <a:r>
              <a:rPr lang="en-GB" dirty="0" err="1"/>
              <a:t>kieszeni</a:t>
            </a:r>
            <a:r>
              <a:rPr lang="en-GB" dirty="0"/>
              <a:t>. Nie </a:t>
            </a:r>
            <a:r>
              <a:rPr lang="en-GB" dirty="0" err="1"/>
              <a:t>odzwierciedla</a:t>
            </a:r>
            <a:r>
              <a:rPr lang="en-GB" dirty="0"/>
              <a:t> </a:t>
            </a:r>
            <a:r>
              <a:rPr lang="en-GB" dirty="0" err="1"/>
              <a:t>ostatecznego</a:t>
            </a:r>
            <a:r>
              <a:rPr lang="en-GB" dirty="0"/>
              <a:t> </a:t>
            </a:r>
            <a:r>
              <a:rPr lang="en-GB" dirty="0" err="1"/>
              <a:t>wyglądu</a:t>
            </a:r>
            <a:r>
              <a:rPr lang="en-GB" dirty="0"/>
              <a:t> </a:t>
            </a:r>
            <a:r>
              <a:rPr lang="en-GB" dirty="0" err="1"/>
              <a:t>projektu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2671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9D2B4-D3C8-42F4-7342-16C41FA75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89488"/>
          </a:xfrm>
        </p:spPr>
        <p:txBody>
          <a:bodyPr>
            <a:normAutofit/>
          </a:bodyPr>
          <a:lstStyle/>
          <a:p>
            <a:pPr algn="ctr"/>
            <a:r>
              <a:rPr lang="en-GB" sz="3600" dirty="0" err="1">
                <a:latin typeface="Bahnschrift" panose="020B0502040204020203" pitchFamily="34" charset="0"/>
              </a:rPr>
              <a:t>Rozwiązania</a:t>
            </a:r>
            <a:r>
              <a:rPr lang="en-GB" sz="3600" dirty="0">
                <a:latin typeface="Bahnschrift" panose="020B0502040204020203" pitchFamily="34" charset="0"/>
              </a:rPr>
              <a:t> </a:t>
            </a:r>
            <a:r>
              <a:rPr lang="en-GB" sz="3600" dirty="0" err="1">
                <a:latin typeface="Bahnschrift" panose="020B0502040204020203" pitchFamily="34" charset="0"/>
              </a:rPr>
              <a:t>stosowane</a:t>
            </a:r>
            <a:r>
              <a:rPr lang="en-GB" sz="3600" dirty="0">
                <a:latin typeface="Bahnschrift" panose="020B0502040204020203" pitchFamily="34" charset="0"/>
              </a:rPr>
              <a:t> w </a:t>
            </a:r>
            <a:r>
              <a:rPr lang="en-GB" sz="3600" dirty="0" err="1">
                <a:latin typeface="Bahnschrift" panose="020B0502040204020203" pitchFamily="34" charset="0"/>
              </a:rPr>
              <a:t>akcjach</a:t>
            </a:r>
            <a:r>
              <a:rPr lang="en-GB" sz="3600" dirty="0">
                <a:latin typeface="Bahnschrift" panose="020B0502040204020203" pitchFamily="34" charset="0"/>
              </a:rPr>
              <a:t> </a:t>
            </a:r>
            <a:r>
              <a:rPr lang="en-GB" sz="3600" dirty="0" err="1">
                <a:latin typeface="Bahnschrift" panose="020B0502040204020203" pitchFamily="34" charset="0"/>
              </a:rPr>
              <a:t>ratunkowych</a:t>
            </a:r>
            <a:endParaRPr lang="en-GB" sz="3600" dirty="0"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1B87F9-74B7-8655-3BD3-717343E0F08D}"/>
              </a:ext>
            </a:extLst>
          </p:cNvPr>
          <p:cNvSpPr/>
          <p:nvPr/>
        </p:nvSpPr>
        <p:spPr>
          <a:xfrm rot="5400000">
            <a:off x="4547507" y="-1493152"/>
            <a:ext cx="48987" cy="61009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rescueME MOB1 - Ocean Signal">
            <a:extLst>
              <a:ext uri="{FF2B5EF4-FFF2-40B4-BE49-F238E27FC236}">
                <a16:creationId xmlns:a16="http://schemas.microsoft.com/office/drawing/2014/main" id="{827AEF81-4D47-6081-00D7-6E3282D21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42" y="1861457"/>
            <a:ext cx="2514601" cy="251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6B1602-1E7A-CA34-83BD-7F13DA15D1F0}"/>
              </a:ext>
            </a:extLst>
          </p:cNvPr>
          <p:cNvSpPr txBox="1"/>
          <p:nvPr/>
        </p:nvSpPr>
        <p:spPr>
          <a:xfrm>
            <a:off x="3009898" y="1865134"/>
            <a:ext cx="60361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SAR beacon to automatyczny nadajnik awaryjny, który po aktywacji wysyła sygnał alarmowy wraz z aktualną pozycją GPS do służb ratunkowych. Umożliwia szybkie wykrycie rozbitka przez jednostki SAR, zwiększając szanse na odnalezienie w trudnych warunkach pogodowych i na dużych akwenach.</a:t>
            </a:r>
            <a:endParaRPr lang="en-GB" dirty="0"/>
          </a:p>
        </p:txBody>
      </p:sp>
      <p:pic>
        <p:nvPicPr>
          <p:cNvPr id="2052" name="Picture 4" descr="DANBUOY, S O S – Victory Products">
            <a:extLst>
              <a:ext uri="{FF2B5EF4-FFF2-40B4-BE49-F238E27FC236}">
                <a16:creationId xmlns:a16="http://schemas.microsoft.com/office/drawing/2014/main" id="{9035C7FD-5370-B9E2-4EF4-27AFB9526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107" y="3442469"/>
            <a:ext cx="3358243" cy="305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EE1E98-0169-5AB1-C1F1-1E3E0C0EFBD9}"/>
              </a:ext>
            </a:extLst>
          </p:cNvPr>
          <p:cNvSpPr txBox="1"/>
          <p:nvPr/>
        </p:nvSpPr>
        <p:spPr>
          <a:xfrm>
            <a:off x="386442" y="4469143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SOS Dan Buoy to samorozkładająca się boja sygnalizacyjna używana w akcjach „człowiek za burtą”. Po wrzuceniu do wody natychmiast się ustawia, unosi pionowo i wyposaża rozbitka w widoczny z daleka marker z flagą, światłem i pływakiem, ułatwiając szybkie odnalezienie osoby w trudnych warunkach.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5350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3984"/>
            <a:ext cx="7886700" cy="707117"/>
          </a:xfrm>
        </p:spPr>
        <p:txBody>
          <a:bodyPr>
            <a:normAutofit/>
          </a:bodyPr>
          <a:lstStyle/>
          <a:p>
            <a:r>
              <a:rPr lang="en-GB" sz="4300" dirty="0" err="1">
                <a:latin typeface="Bahnschrift" panose="020B0502040204020203" pitchFamily="34" charset="0"/>
              </a:rPr>
              <a:t>Rozwiązania</a:t>
            </a:r>
            <a:r>
              <a:rPr lang="en-GB" sz="4300" dirty="0">
                <a:latin typeface="Bahnschrift" panose="020B0502040204020203" pitchFamily="34" charset="0"/>
              </a:rPr>
              <a:t> </a:t>
            </a:r>
            <a:r>
              <a:rPr lang="en-GB" sz="4300" dirty="0" err="1">
                <a:latin typeface="Bahnschrift" panose="020B0502040204020203" pitchFamily="34" charset="0"/>
              </a:rPr>
              <a:t>mechaniczne</a:t>
            </a:r>
            <a:r>
              <a:rPr lang="en-GB" sz="4300" dirty="0">
                <a:latin typeface="Bahnschrift" panose="020B0502040204020203" pitchFamily="34" charset="0"/>
              </a:rPr>
              <a:t> </a:t>
            </a:r>
            <a:endParaRPr sz="4300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421" y="1319439"/>
            <a:ext cx="3872593" cy="4564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800" dirty="0"/>
              <a:t>Układ mechaniczny ma docelowo składać się z obudowy o stopniu szczelności IP68, wykonanej z tworzywa ABS/PC odpornego na promieniowanie UV oraz uszczelek silikonowych.</a:t>
            </a:r>
            <a:r>
              <a:rPr lang="en-GB" sz="1800" dirty="0"/>
              <a:t> </a:t>
            </a:r>
            <a:r>
              <a:rPr lang="en-GB" sz="1800" dirty="0" err="1"/>
              <a:t>Obudowa</a:t>
            </a:r>
            <a:r>
              <a:rPr lang="en-GB" sz="1800" dirty="0"/>
              <a:t> ma </a:t>
            </a:r>
            <a:r>
              <a:rPr lang="en-GB" sz="1800" dirty="0" err="1"/>
              <a:t>znajdować</a:t>
            </a:r>
            <a:r>
              <a:rPr lang="en-GB" sz="1800" dirty="0"/>
              <a:t> </a:t>
            </a:r>
            <a:r>
              <a:rPr lang="en-GB" sz="1800" dirty="0" err="1"/>
              <a:t>się</a:t>
            </a:r>
            <a:r>
              <a:rPr lang="en-GB" sz="1800" dirty="0"/>
              <a:t> w </a:t>
            </a:r>
            <a:r>
              <a:rPr lang="en-GB" sz="1800" dirty="0" err="1"/>
              <a:t>wodoodpornym</a:t>
            </a:r>
            <a:r>
              <a:rPr lang="en-GB" sz="1800" dirty="0"/>
              <a:t> </a:t>
            </a:r>
            <a:r>
              <a:rPr lang="en-GB" sz="1800" dirty="0" err="1"/>
              <a:t>worku</a:t>
            </a:r>
            <a:r>
              <a:rPr lang="en-GB" sz="1800" dirty="0"/>
              <a:t>/</a:t>
            </a:r>
            <a:r>
              <a:rPr lang="en-GB" sz="1800" dirty="0" err="1"/>
              <a:t>kieszeni</a:t>
            </a:r>
            <a:r>
              <a:rPr lang="en-GB" sz="1800" dirty="0"/>
              <a:t>.</a:t>
            </a:r>
            <a:r>
              <a:rPr lang="pl-PL" sz="1800" dirty="0"/>
              <a:t> Wychodzący z obudowy mechanizm inflacji zaczepiony będzie do worka wypornościowego o pojemności około 15 litrów, wykonanego ze zgrzewanej folii TPU oraz standardowy nabój CO₂ 33 g. System inflacji oparty jest na aktywatorze hydrostatycznym z możliwością ręcznego uruchomienia (fail-safe).</a:t>
            </a:r>
            <a:endParaRPr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68784-BBF9-BEA3-79BC-745855F9D2D2}"/>
              </a:ext>
            </a:extLst>
          </p:cNvPr>
          <p:cNvSpPr/>
          <p:nvPr/>
        </p:nvSpPr>
        <p:spPr>
          <a:xfrm>
            <a:off x="1" y="6019800"/>
            <a:ext cx="9143999" cy="83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74" name="Picture 2" descr="LB1 Self Inflating Life Buoy – SwellPro-UK">
            <a:extLst>
              <a:ext uri="{FF2B5EF4-FFF2-40B4-BE49-F238E27FC236}">
                <a16:creationId xmlns:a16="http://schemas.microsoft.com/office/drawing/2014/main" id="{9DCEE2C9-12A5-5BEC-1A20-0456B7E9E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1181101"/>
            <a:ext cx="4446814" cy="444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0DC471-0D51-DF08-EAF4-3F6150BC742D}"/>
              </a:ext>
            </a:extLst>
          </p:cNvPr>
          <p:cNvSpPr txBox="1"/>
          <p:nvPr/>
        </p:nvSpPr>
        <p:spPr>
          <a:xfrm>
            <a:off x="4166507" y="5095102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Komercyjnie</a:t>
            </a:r>
            <a:r>
              <a:rPr lang="en-GB" dirty="0"/>
              <a:t> </a:t>
            </a:r>
            <a:r>
              <a:rPr lang="en-GB" dirty="0" err="1"/>
              <a:t>dostępna</a:t>
            </a:r>
            <a:r>
              <a:rPr lang="en-GB" dirty="0"/>
              <a:t> </a:t>
            </a:r>
            <a:r>
              <a:rPr lang="en-GB" dirty="0" err="1"/>
              <a:t>boja</a:t>
            </a:r>
            <a:r>
              <a:rPr lang="en-GB" dirty="0"/>
              <a:t> LB1 </a:t>
            </a:r>
            <a:r>
              <a:rPr lang="en-GB" dirty="0" err="1"/>
              <a:t>marki</a:t>
            </a:r>
            <a:r>
              <a:rPr lang="en-GB" dirty="0"/>
              <a:t> </a:t>
            </a:r>
            <a:r>
              <a:rPr lang="en-GB" dirty="0" err="1"/>
              <a:t>SwellPro</a:t>
            </a:r>
            <a:r>
              <a:rPr lang="en-GB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082" y="713469"/>
            <a:ext cx="6849836" cy="766987"/>
          </a:xfrm>
        </p:spPr>
        <p:txBody>
          <a:bodyPr>
            <a:normAutofit/>
          </a:bodyPr>
          <a:lstStyle/>
          <a:p>
            <a:r>
              <a:rPr lang="en-GB" sz="4300" dirty="0" err="1">
                <a:latin typeface="Bahnschrift" panose="020B0502040204020203" pitchFamily="34" charset="0"/>
              </a:rPr>
              <a:t>Rozwiązania</a:t>
            </a:r>
            <a:r>
              <a:rPr lang="en-GB" dirty="0">
                <a:latin typeface="Bahnschrift" panose="020B0502040204020203" pitchFamily="34" charset="0"/>
              </a:rPr>
              <a:t> </a:t>
            </a:r>
            <a:r>
              <a:rPr lang="en-GB" sz="4300" dirty="0" err="1">
                <a:latin typeface="Bahnschrift" panose="020B0502040204020203" pitchFamily="34" charset="0"/>
              </a:rPr>
              <a:t>elektroniczne</a:t>
            </a:r>
            <a:endParaRPr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2468"/>
            <a:ext cx="7886700" cy="3889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800" dirty="0"/>
              <a:t>Część elektroniczna znajdująca się w obudowie obejmuje mikrokontroler niskomocowy </a:t>
            </a:r>
            <a:r>
              <a:rPr lang="en-GB" sz="1800" dirty="0"/>
              <a:t>STM32, </a:t>
            </a:r>
            <a:r>
              <a:rPr lang="pl-PL" sz="1800" dirty="0"/>
              <a:t>moduł lokalizacyjny GNSS (GPS/GLONASS/Galileo) oraz moduł komunikacyjny LoRaWAN. Dodatkowo zastosowano czujnik zalania, trójosiowy akcelerometr do wykrywania uderzenia o powierzchnię wody, a także niewielką, energooszczędną diodę LED wysokiej jasności z dyfuzorem 360°, przeznaczoną jako sygnalizacja optyczna w nocy. System może zostać rozszerzony o moduł współpracujący z infrastrukturą SAR, taki jak nadajnik AIS MOB lub komunikacja LTE-M/NB-IoT, umożliwiający przekazanie pozycji bezpośrednio do służb ratunkowych. Całość zasilana jest akumulatorem litowo-jonowym 3,4 Ah z układem BMS i ładowaniem przez port USB-C.</a:t>
            </a:r>
            <a:r>
              <a:rPr lang="en-GB" sz="1800" dirty="0"/>
              <a:t> </a:t>
            </a:r>
            <a:r>
              <a:rPr lang="en-GB" sz="1800" dirty="0" err="1"/>
              <a:t>Cały</a:t>
            </a:r>
            <a:r>
              <a:rPr lang="en-GB" sz="1800" dirty="0"/>
              <a:t> </a:t>
            </a:r>
            <a:r>
              <a:rPr lang="en-GB" sz="1800" dirty="0" err="1"/>
              <a:t>układ</a:t>
            </a:r>
            <a:r>
              <a:rPr lang="en-GB" sz="1800" dirty="0"/>
              <a:t> </a:t>
            </a:r>
            <a:r>
              <a:rPr lang="en-GB" sz="1800" dirty="0" err="1"/>
              <a:t>będzie</a:t>
            </a:r>
            <a:r>
              <a:rPr lang="en-GB" sz="1800" dirty="0"/>
              <a:t> </a:t>
            </a:r>
            <a:r>
              <a:rPr lang="en-GB" sz="1800" dirty="0" err="1"/>
              <a:t>zamontowany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własnej</a:t>
            </a:r>
            <a:r>
              <a:rPr lang="en-GB" sz="1800" dirty="0"/>
              <a:t> </a:t>
            </a:r>
            <a:r>
              <a:rPr lang="en-GB" sz="1800" dirty="0" err="1"/>
              <a:t>płytce</a:t>
            </a:r>
            <a:r>
              <a:rPr lang="en-GB" sz="1800" dirty="0"/>
              <a:t> PCB.</a:t>
            </a:r>
          </a:p>
          <a:p>
            <a:pPr marL="0" indent="0">
              <a:buNone/>
            </a:pPr>
            <a:r>
              <a:rPr lang="pl-PL" sz="1800" dirty="0"/>
              <a:t>Oprogramowanie urządzenia pracuje w trybach czuwania, aktywacji i akcji ratunkowej, zarządzając inflacją, transmisją danych i sygnalizacją świetlną. Transmisja pozycji odbywa się cyklicznie do serwera lub aplikacji mobilnej</a:t>
            </a:r>
            <a:r>
              <a:rPr lang="en-GB" sz="1800" dirty="0"/>
              <a:t>.</a:t>
            </a:r>
            <a:endParaRPr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5E69132-F94D-EC8B-0CBF-07CC6D757BF6}"/>
              </a:ext>
            </a:extLst>
          </p:cNvPr>
          <p:cNvSpPr/>
          <p:nvPr/>
        </p:nvSpPr>
        <p:spPr>
          <a:xfrm>
            <a:off x="4191000" y="4675414"/>
            <a:ext cx="4953000" cy="2182586"/>
          </a:xfrm>
          <a:prstGeom prst="triangle">
            <a:avLst>
              <a:gd name="adj" fmla="val 10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C765456-7ABB-586E-DAC2-42F4556765BF}"/>
              </a:ext>
            </a:extLst>
          </p:cNvPr>
          <p:cNvSpPr/>
          <p:nvPr/>
        </p:nvSpPr>
        <p:spPr>
          <a:xfrm rot="10800000" flipH="1">
            <a:off x="0" y="0"/>
            <a:ext cx="2215243" cy="1240971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7548"/>
            <a:ext cx="7886700" cy="1325563"/>
          </a:xfrm>
        </p:spPr>
        <p:txBody>
          <a:bodyPr/>
          <a:lstStyle/>
          <a:p>
            <a:r>
              <a:rPr lang="en-GB" sz="4300" dirty="0" err="1">
                <a:latin typeface="Bahnschrift" panose="020B0502040204020203" pitchFamily="34" charset="0"/>
              </a:rPr>
              <a:t>Wstępny</a:t>
            </a:r>
            <a:r>
              <a:rPr lang="en-GB" sz="4300" dirty="0">
                <a:latin typeface="Bahnschrift" panose="020B0502040204020203" pitchFamily="34" charset="0"/>
              </a:rPr>
              <a:t> </a:t>
            </a:r>
            <a:r>
              <a:rPr lang="en-GB" sz="4300" dirty="0" err="1">
                <a:latin typeface="Bahnschrift" panose="020B0502040204020203" pitchFamily="34" charset="0"/>
              </a:rPr>
              <a:t>Kosztorys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8D5C35-B8EE-FDB3-2457-1F06A7AD9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462139"/>
            <a:ext cx="647786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Elektronika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MCU, GNSS, LoRa,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czujniki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, LED, BMS,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akumulator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Li-ion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→ ok. 220 – 350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zł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Moduł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inflacji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Nabój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CO₂ 33 g + inflator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hydrostatyczny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+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osprzęt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→ ok. </a:t>
            </a:r>
            <a:r>
              <a:rPr lang="en-US" altLang="en-US" sz="1800" dirty="0"/>
              <a:t>200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–</a:t>
            </a:r>
            <a:r>
              <a:rPr lang="en-US" altLang="en-US" sz="1800" dirty="0"/>
              <a:t> 300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zł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Bojka /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obudowa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/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pływak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Worek TPU 15 L,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obudowa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IP68,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uszczelki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elementy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montażowe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→ ok. 300 – 500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zł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PCB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Projekt +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wytrawianie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/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wykonanie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płytki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prototypowej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(2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warstwy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)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→ ok. </a:t>
            </a:r>
            <a:r>
              <a:rPr lang="en-US" altLang="en-US" sz="1800" dirty="0"/>
              <a:t>100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–</a:t>
            </a:r>
            <a:r>
              <a:rPr lang="en-US" altLang="en-US" sz="1800" dirty="0"/>
              <a:t> 200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zł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Testy w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warunkach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rzeczywistych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Wymagany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dron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do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zrzutu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</a:rPr>
              <a:t>boi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6750AEA-DB1C-B129-629B-5C221BDD7EFB}"/>
              </a:ext>
            </a:extLst>
          </p:cNvPr>
          <p:cNvSpPr/>
          <p:nvPr/>
        </p:nvSpPr>
        <p:spPr>
          <a:xfrm rot="16200000">
            <a:off x="5410199" y="-1921329"/>
            <a:ext cx="1812471" cy="5655129"/>
          </a:xfrm>
          <a:prstGeom prst="triangle">
            <a:avLst>
              <a:gd name="adj" fmla="val 10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153D64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97</TotalTime>
  <Words>683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Bahnschrift</vt:lpstr>
      <vt:lpstr>Calibri</vt:lpstr>
      <vt:lpstr>Calibri Light</vt:lpstr>
      <vt:lpstr>Office 2013 - 2022 Theme</vt:lpstr>
      <vt:lpstr>AquaSOS – Inteligentna Bojka Ratunkowa</vt:lpstr>
      <vt:lpstr>Założenia</vt:lpstr>
      <vt:lpstr>PowerPoint Presentation</vt:lpstr>
      <vt:lpstr>Rozwiązania stosowane w akcjach ratunkowych</vt:lpstr>
      <vt:lpstr>Rozwiązania mechaniczne </vt:lpstr>
      <vt:lpstr>Rozwiązania elektroniczne</vt:lpstr>
      <vt:lpstr>Wstępny Kosztorys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Tomek Majerowicz</dc:creator>
  <cp:keywords/>
  <dc:description>generated using python-pptx</dc:description>
  <cp:lastModifiedBy>Justyna Tylec</cp:lastModifiedBy>
  <cp:revision>13</cp:revision>
  <dcterms:created xsi:type="dcterms:W3CDTF">2013-01-27T09:14:16Z</dcterms:created>
  <dcterms:modified xsi:type="dcterms:W3CDTF">2025-11-21T19:31:41Z</dcterms:modified>
  <cp:category/>
</cp:coreProperties>
</file>